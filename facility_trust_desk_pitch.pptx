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B44D"/>
                </a:solidFill>
                <a:latin typeface="Calibri"/>
              </a:rPr>
              <a:t>TRACK 1  ·  DAIS 2026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5F7FA"/>
                </a:solidFill>
                <a:latin typeface="Calibri"/>
              </a:rPr>
              <a:t>Facility Trust 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1">
                <a:solidFill>
                  <a:srgbClr val="A8B5C6"/>
                </a:solidFill>
                <a:latin typeface="Calibri"/>
              </a:rPr>
              <a:t>Can this facility actually do what it claims?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9377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0B1B2E"/>
                </a:solidFill>
                <a:latin typeface="Calibri"/>
              </a:rPr>
              <a:t>STRONG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9377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F4C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0B1B2E"/>
                </a:solidFill>
                <a:latin typeface="Calibri"/>
              </a:rPr>
              <a:t>PARTIAL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49377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0B1B2E"/>
                </a:solidFill>
                <a:latin typeface="Calibri"/>
              </a:rPr>
              <a:t>WEAK / SUSPICIOUS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49377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6E7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0B1B2E"/>
                </a:solidFill>
                <a:latin typeface="Calibri"/>
              </a:rPr>
              <a:t>NO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8B5C6"/>
                </a:solidFill>
                <a:latin typeface="Calibri"/>
              </a:rPr>
              <a:t>A trust signal for every facility-capability pair in the Indian healthcare dataset.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B5C6"/>
                </a:solidFill>
                <a:latin typeface="Calibri"/>
              </a:rPr>
              <a:t>Facility Trust Desk  ·  Track 1  ·  DAIS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B5C6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502920" cy="73152"/>
          </a:xfrm>
          <a:prstGeom prst="rect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B44D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Calibri"/>
              </a:rPr>
              <a:t>Directories list claims. They don't grade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486400" cy="356616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B44D"/>
                </a:solidFill>
                <a:latin typeface="Calibri"/>
              </a:rPr>
              <a:t>A district planner.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5F7FA"/>
                </a:solidFill>
                <a:latin typeface="Calibri"/>
              </a:rPr>
              <a:t>A high-risk delivery is being referred.</a:t>
            </a:r>
          </a:p>
          <a:p>
            <a:pPr algn="l"/>
            <a:r>
              <a:rPr sz="2000" b="0" i="0">
                <a:solidFill>
                  <a:srgbClr val="F5F7FA"/>
                </a:solidFill>
                <a:latin typeface="Calibri"/>
              </a:rPr>
              <a:t>Minutes to choose a hospital.</a:t>
            </a:r>
          </a:p>
          <a:p>
            <a:pPr algn="l"/>
            <a:r>
              <a:rPr sz="2000" b="0" i="0">
                <a:solidFill>
                  <a:srgbClr val="F5F7FA"/>
                </a:solidFill>
                <a:latin typeface="Calibri"/>
              </a:rPr>
              <a:t>Searches "maternity".</a:t>
            </a:r>
          </a:p>
          <a:p>
            <a:pPr algn="l"/>
            <a:r>
              <a:rPr sz="2000" b="0" i="0">
                <a:solidFill>
                  <a:srgbClr val="F5F7FA"/>
                </a:solidFill>
                <a:latin typeface="Calibri"/>
              </a:rPr>
              <a:t>Gets 200 hospitals, all claiming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377440"/>
            <a:ext cx="5212080" cy="356616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6060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8B5C6"/>
                </a:solidFill>
                <a:latin typeface="Calibri"/>
              </a:rPr>
              <a:t>The question that matters: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1089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B44D"/>
                </a:solidFill>
                <a:latin typeface="Calibri"/>
              </a:rPr>
              <a:t>“Can they actually do it?”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57200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5F7FA"/>
                </a:solidFill>
                <a:latin typeface="Calibri"/>
              </a:rPr>
              <a:t>No one tells the planner. Self-reported capability is treated as ground truth across the entire sector.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B5C6"/>
                </a:solidFill>
                <a:latin typeface="Calibri"/>
              </a:rPr>
              <a:t>Facility Trust Desk  ·  Track 1  ·  DAIS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B5C6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502920" cy="73152"/>
          </a:xfrm>
          <a:prstGeom prst="rect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B44D"/>
                </a:solidFill>
                <a:latin typeface="Calibr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Calibri"/>
              </a:rPr>
              <a:t>A trust signal for every facility × capability pair.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A8B5C6"/>
                </a:solidFill>
                <a:latin typeface="Calibri"/>
              </a:rPr>
              <a:t>~10,000 Indian healthcare facilities  ×  6 capabilities  →  ~60,000 graded decisions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71800"/>
            <a:ext cx="1783080" cy="50292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0B1B2E"/>
                </a:solidFill>
                <a:latin typeface="Calibri"/>
              </a:rPr>
              <a:t>ICU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59" y="2971800"/>
            <a:ext cx="1783080" cy="50292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0B1B2E"/>
                </a:solidFill>
                <a:latin typeface="Calibri"/>
              </a:rPr>
              <a:t>NICU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8" y="2971800"/>
            <a:ext cx="1783080" cy="50292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0B1B2E"/>
                </a:solidFill>
                <a:latin typeface="Calibri"/>
              </a:rPr>
              <a:t>Maternity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197" y="2971800"/>
            <a:ext cx="1783080" cy="50292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0B1B2E"/>
                </a:solidFill>
                <a:latin typeface="Calibri"/>
              </a:rPr>
              <a:t>Emergency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6" y="2971800"/>
            <a:ext cx="1783080" cy="50292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0B1B2E"/>
                </a:solidFill>
                <a:latin typeface="Calibri"/>
              </a:rPr>
              <a:t>Oncology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21235" y="2971800"/>
            <a:ext cx="1783080" cy="50292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400" b="1">
                <a:solidFill>
                  <a:srgbClr val="0B1B2E"/>
                </a:solidFill>
                <a:latin typeface="Calibri"/>
              </a:rPr>
              <a:t>Trauma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2743200" cy="210312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2743200" cy="164592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434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BCB77"/>
                </a:solidFill>
                <a:latin typeface="Calibri"/>
              </a:rPr>
              <a:t>STRONG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"/>
              </a:rPr>
              <a:t>Structured evidence and well-corroborated by independent sources.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0712" y="4023360"/>
            <a:ext cx="2743200" cy="210312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0712" y="4023360"/>
            <a:ext cx="2743200" cy="164592"/>
          </a:xfrm>
          <a:prstGeom prst="rect">
            <a:avLst/>
          </a:prstGeom>
          <a:solidFill>
            <a:srgbClr val="F4C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43434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4C43C"/>
                </a:solidFill>
                <a:latin typeface="Calibri"/>
              </a:rPr>
              <a:t>PARTIAL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48006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"/>
              </a:rPr>
              <a:t>One real signal. Not enough to fully confirm the claim.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2784" y="4023360"/>
            <a:ext cx="2743200" cy="210312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2784" y="4023360"/>
            <a:ext cx="2743200" cy="164592"/>
          </a:xfrm>
          <a:prstGeom prst="rect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43434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B44D"/>
                </a:solidFill>
                <a:latin typeface="Calibri"/>
              </a:rPr>
              <a:t>WEAK / SUSPICIOUS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8006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"/>
              </a:rPr>
              <a:t>Prose-only, screening-only, implausible scale, or contradictory.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34856" y="4023360"/>
            <a:ext cx="2743200" cy="210312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34856" y="4023360"/>
            <a:ext cx="2743200" cy="164592"/>
          </a:xfrm>
          <a:prstGeom prst="rect">
            <a:avLst/>
          </a:prstGeom>
          <a:solidFill>
            <a:srgbClr val="6E7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7736" y="43434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E7C91"/>
                </a:solidFill>
                <a:latin typeface="Calibri"/>
              </a:rPr>
              <a:t>NO CLAIM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48006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"/>
              </a:rPr>
              <a:t>Nothing in the facility's own evidence supports this capability.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B5C6"/>
                </a:solidFill>
                <a:latin typeface="Calibri"/>
              </a:rPr>
              <a:t>Facility Trust Desk  ·  Track 1  ·  DAIS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B5C6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502920" cy="73152"/>
          </a:xfrm>
          <a:prstGeom prst="rect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B44D"/>
                </a:solidFill>
                <a:latin typeface="Calibri"/>
              </a:rPr>
              <a:t>WHAT THE PLANNER SEES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Calibri"/>
              </a:rPr>
              <a:t>Rank. Drill into evidence. Override with a note.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B44D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FD1C5"/>
                </a:solidFill>
                <a:latin typeface="Calibri"/>
              </a:rPr>
              <a:t>PICK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"/>
              </a:rPr>
              <a:t>Capability and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37744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46888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B44D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3703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FD1C5"/>
                </a:solidFill>
                <a:latin typeface="Calibri"/>
              </a:rPr>
              <a:t>RANK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420624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"/>
              </a:rPr>
              <a:t>A ranked list of facilities with a visible tier.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237744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46888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B44D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703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FD1C5"/>
                </a:solidFill>
                <a:latin typeface="Calibri"/>
              </a:rPr>
              <a:t>DRILL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420624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"/>
              </a:rPr>
              <a:t>Why we made the call: structured matches, prose hits, sources, snippets.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34856" y="237744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7736" y="246888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B44D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7736" y="3703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FD1C5"/>
                </a:solidFill>
                <a:latin typeface="Calibri"/>
              </a:rPr>
              <a:t>OVERRIDE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420624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  <a:latin typeface="Calibri"/>
              </a:rPr>
              <a:t>Local note + reviewer tag, kept in the browser.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FFB44D"/>
                </a:solidFill>
                <a:latin typeface="Calibri"/>
              </a:rPr>
              <a:t>Planners can disagree with us. They cannot be lied to about what we know.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B5C6"/>
                </a:solidFill>
                <a:latin typeface="Calibri"/>
              </a:rPr>
              <a:t>Facility Trust Desk  ·  Track 1  ·  DAIS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B5C6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502920" cy="73152"/>
          </a:xfrm>
          <a:prstGeom prst="rect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B44D"/>
                </a:solidFill>
                <a:latin typeface="Calibr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Calibri"/>
              </a:rPr>
              <a:t>A deterministic pipeline with an auditable LLM second opinion.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06040"/>
            <a:ext cx="2029968" cy="182880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606040"/>
            <a:ext cx="2029968" cy="128016"/>
          </a:xfrm>
          <a:prstGeom prst="rect">
            <a:avLst/>
          </a:prstGeom>
          <a:solidFill>
            <a:srgbClr val="6E7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8470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6E7C91"/>
                </a:solidFill>
                <a:latin typeface="Calibri"/>
              </a:rPr>
              <a:t>RAW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84708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5F7FA"/>
                </a:solidFill>
                <a:latin typeface="Calibri"/>
              </a:rPr>
              <a:t>10,088 raw
facility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2606040"/>
            <a:ext cx="2029968" cy="182880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07208" y="2606040"/>
            <a:ext cx="2029968" cy="128016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2880360"/>
            <a:ext cx="18470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4FD1C5"/>
                </a:solidFill>
                <a:latin typeface="Calibri"/>
              </a:rPr>
              <a:t>SILVER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3566160"/>
            <a:ext cx="184708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5F7FA"/>
                </a:solidFill>
                <a:latin typeface="Calibri"/>
              </a:rPr>
              <a:t>Cleaned, deduped,
pincode-repaired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5776" y="2606040"/>
            <a:ext cx="2029968" cy="182880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65776" y="2606040"/>
            <a:ext cx="2029968" cy="128016"/>
          </a:xfrm>
          <a:prstGeom prst="rect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7216" y="2880360"/>
            <a:ext cx="18470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B44D"/>
                </a:solidFill>
                <a:latin typeface="Calibri"/>
              </a:rPr>
              <a:t>GOLD
(heuristic)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7216" y="3566160"/>
            <a:ext cx="184708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5F7FA"/>
                </a:solidFill>
                <a:latin typeface="Calibri"/>
              </a:rPr>
              <a:t>Tier from structured
+ claim + prose + corroboration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24344" y="2606040"/>
            <a:ext cx="2029968" cy="182880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24344" y="2606040"/>
            <a:ext cx="2029968" cy="128016"/>
          </a:xfrm>
          <a:prstGeom prst="rect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4" y="2880360"/>
            <a:ext cx="18470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B44D"/>
                </a:solidFill>
                <a:latin typeface="Calibri"/>
              </a:rPr>
              <a:t>LLM
SUB-SIGNALS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4" y="3566160"/>
            <a:ext cx="184708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5F7FA"/>
                </a:solidFill>
                <a:latin typeface="Calibri"/>
              </a:rPr>
              <a:t>Typed, fingerprinted,
never the final tier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82912" y="2606040"/>
            <a:ext cx="2029968" cy="182880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82912" y="2606040"/>
            <a:ext cx="2029968" cy="128016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74352" y="2880360"/>
            <a:ext cx="18470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6BCB77"/>
                </a:solidFill>
                <a:latin typeface="Calibri"/>
              </a:rPr>
              <a:t>GOLD
(final mart)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3566160"/>
            <a:ext cx="184708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5F7FA"/>
                </a:solidFill>
                <a:latin typeface="Calibri"/>
              </a:rPr>
              <a:t>Tier deterministically
recomputed in SQL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387852" y="3383280"/>
            <a:ext cx="320040" cy="274320"/>
          </a:xfrm>
          <a:prstGeom prst="rightArrow">
            <a:avLst/>
          </a:prstGeom>
          <a:solidFill>
            <a:srgbClr val="A8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5646420" y="3383280"/>
            <a:ext cx="320040" cy="274320"/>
          </a:xfrm>
          <a:prstGeom prst="rightArrow">
            <a:avLst/>
          </a:prstGeom>
          <a:solidFill>
            <a:srgbClr val="A8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7904988" y="3383280"/>
            <a:ext cx="320040" cy="274320"/>
          </a:xfrm>
          <a:prstGeom prst="rightArrow">
            <a:avLst/>
          </a:prstGeom>
          <a:solidFill>
            <a:srgbClr val="A8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10163556" y="3383280"/>
            <a:ext cx="320040" cy="274320"/>
          </a:xfrm>
          <a:prstGeom prst="rightArrow">
            <a:avLst/>
          </a:prstGeom>
          <a:solidFill>
            <a:srgbClr val="A8B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5074920"/>
            <a:ext cx="3566160" cy="109728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66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BCB77"/>
                </a:solidFill>
                <a:latin typeface="Calibri"/>
              </a:rPr>
              <a:t>Deterministic tier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5321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Final tier is recomputed by SQL every run. Repeatable, auditable.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5074920"/>
            <a:ext cx="3566160" cy="109728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5166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FD1C5"/>
                </a:solidFill>
                <a:latin typeface="Calibri"/>
              </a:rPr>
              <a:t>LLM as second opinion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55321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Writes typed sub-signals only. Tier rules read them, then decide.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5074920"/>
            <a:ext cx="3566160" cy="109728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5166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B44D"/>
                </a:solidFill>
                <a:latin typeface="Calibri"/>
              </a:rPr>
              <a:t>Fingerprinted reviews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5321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Each LLM review is keyed to a hash of the evidence it saw.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B5C6"/>
                </a:solidFill>
                <a:latin typeface="Calibri"/>
              </a:rPr>
              <a:t>Facility Trust Desk  ·  Track 1  ·  DAIS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B5C6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502920" cy="73152"/>
          </a:xfrm>
          <a:prstGeom prst="rect">
            <a:avLst/>
          </a:prstGeom>
          <a:solidFill>
            <a:srgbClr val="E2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26B6B"/>
                </a:solidFill>
                <a:latin typeface="Calibri"/>
              </a:rPr>
              <a:t>WHAT WE DELIBERATELY DID NOT 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Calibri"/>
              </a:rPr>
              <a:t>We killed our citation-quality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486400" cy="356616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 w="12700">
            <a:solidFill>
              <a:srgbClr val="E2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6B6B"/>
                </a:solidFill>
                <a:latin typeface="Calibri"/>
              </a:rPr>
              <a:t>TEMPTING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F7FA"/>
                </a:solidFill>
                <a:latin typeface="Consolas"/>
              </a:rPr>
              <a:t>citation_support_quality: 0.82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Calibri"/>
              </a:rPr>
              <a:t>A confident-looking number per claim.</a:t>
            </a:r>
          </a:p>
          <a:p>
            <a:pPr algn="l"/>
            <a:r>
              <a:rPr sz="1500" b="0" i="0">
                <a:solidFill>
                  <a:srgbClr val="F5F7FA"/>
                </a:solidFill>
                <a:latin typeface="Calibri"/>
              </a:rPr>
              <a:t>Backed by… a list of homepage URLs.</a:t>
            </a:r>
          </a:p>
          <a:p>
            <a:pPr algn="l"/>
            <a:r>
              <a:rPr sz="1500" b="0" i="0">
                <a:solidFill>
                  <a:srgbClr val="F5F7FA"/>
                </a:solidFill>
                <a:latin typeface="Calibri"/>
              </a:rPr>
              <a:t>No per-claim snippets to verify it.</a:t>
            </a:r>
          </a:p>
          <a:p>
            <a:pPr algn="l"/>
            <a:r>
              <a:rPr sz="1500" b="0" i="0">
                <a:solidFill>
                  <a:srgbClr val="F5F7FA"/>
                </a:solidFill>
                <a:latin typeface="Calibri"/>
              </a:rPr>
              <a:t>A score with no source is theater.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377440"/>
            <a:ext cx="5212080" cy="356616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 w="127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560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BCB77"/>
                </a:solidFill>
                <a:latin typeface="Calibri"/>
              </a:rPr>
              <a:t>WHAT WE 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0175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F7FA"/>
                </a:solidFill>
                <a:latin typeface="Consolas"/>
              </a:rPr>
              <a:t>supporting_snippets[]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657600"/>
            <a:ext cx="4754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Calibri"/>
              </a:rPr>
              <a:t>Actual quotes from the facility's own text.</a:t>
            </a:r>
          </a:p>
          <a:p>
            <a:pPr algn="l"/>
            <a:r>
              <a:rPr sz="1500" b="0" i="0">
                <a:solidFill>
                  <a:srgbClr val="F5F7FA"/>
                </a:solidFill>
                <a:latin typeface="Calibri"/>
              </a:rPr>
              <a:t>Citation count and source mix as features.</a:t>
            </a:r>
          </a:p>
          <a:p>
            <a:pPr algn="l"/>
            <a:r>
              <a:rPr sz="1500" b="0" i="0">
                <a:solidFill>
                  <a:srgbClr val="F5F7FA"/>
                </a:solidFill>
                <a:latin typeface="Calibri"/>
              </a:rPr>
              <a:t>“no_claim” is a first-class tier.</a:t>
            </a:r>
          </a:p>
          <a:p>
            <a:pPr algn="l"/>
            <a:r>
              <a:rPr sz="1500" b="0" i="0">
                <a:solidFill>
                  <a:srgbClr val="F5F7FA"/>
                </a:solidFill>
                <a:latin typeface="Calibri"/>
              </a:rPr>
              <a:t>We'd rather show no number than a fake 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B5C6"/>
                </a:solidFill>
                <a:latin typeface="Calibri"/>
              </a:rPr>
              <a:t>Facility Trust Desk  ·  Track 1  ·  DAIS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B5C6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502920" cy="73152"/>
          </a:xfrm>
          <a:prstGeom prst="rect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B44D"/>
                </a:solidFill>
                <a:latin typeface="Calibri"/>
              </a:rPr>
              <a:t>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Calibri"/>
              </a:rPr>
              <a:t>Cleaned, joined, scored, served.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3566160" cy="164592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B44D"/>
                </a:solidFill>
                <a:latin typeface="Calibri"/>
              </a:rPr>
              <a:t>10,088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8B5C6"/>
                </a:solidFill>
                <a:latin typeface="Calibri"/>
              </a:rPr>
              <a:t>raw facility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468880"/>
            <a:ext cx="3566160" cy="164592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6060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B44D"/>
                </a:solidFill>
                <a:latin typeface="Calibri"/>
              </a:rPr>
              <a:t>9,932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520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8B5C6"/>
                </a:solidFill>
                <a:latin typeface="Calibri"/>
              </a:rPr>
              <a:t>unique facilities after dedupe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468880"/>
            <a:ext cx="3566160" cy="164592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6060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B44D"/>
                </a:solidFill>
                <a:latin typeface="Calibri"/>
              </a:rPr>
              <a:t>~60k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520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8B5C6"/>
                </a:solidFill>
                <a:latin typeface="Calibri"/>
              </a:rPr>
              <a:t>facility × capability decisions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97680"/>
            <a:ext cx="3566160" cy="164592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B44D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8B5C6"/>
                </a:solidFill>
                <a:latin typeface="Calibri"/>
              </a:rPr>
              <a:t>capabilities graded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297680"/>
            <a:ext cx="3566160" cy="164592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4348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B44D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349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8B5C6"/>
                </a:solidFill>
                <a:latin typeface="Calibri"/>
              </a:rPr>
              <a:t>trust tiers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97680"/>
            <a:ext cx="3566160" cy="164592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4348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B44D"/>
                </a:solidFill>
                <a:latin typeface="Calibri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349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8B5C6"/>
                </a:solidFill>
                <a:latin typeface="Calibri"/>
              </a:rPr>
              <a:t>SQL steps, raw → silver → 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8B5C6"/>
                </a:solidFill>
                <a:latin typeface="Calibri"/>
              </a:rPr>
              <a:t>Deployed as a Databricks App with the Analytics plugin against a live SQL Warehouse.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B5C6"/>
                </a:solidFill>
                <a:latin typeface="Calibri"/>
              </a:rPr>
              <a:t>Facility Trust Desk  ·  Track 1  ·  DAIS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B5C6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502920" cy="73152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FD1C5"/>
                </a:solidFill>
                <a:latin typeface="Calibri"/>
              </a:rPr>
              <a:t>WHERE THIS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Calibri"/>
              </a:rPr>
              <a:t>Anywhere people act on claims someone made about themselves.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FD1C5"/>
                </a:solidFill>
                <a:latin typeface="Calibri"/>
              </a:rPr>
              <a:t>Government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"/>
              </a:rPr>
              <a:t>Eligibility &amp; service-level claims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24688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606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FD1C5"/>
                </a:solidFill>
                <a:latin typeface="Calibri"/>
              </a:rPr>
              <a:t>Suppliers &amp; vendors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320040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"/>
              </a:rPr>
              <a:t>Certifications, capacity, compliance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24688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606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FD1C5"/>
                </a:solidFill>
                <a:latin typeface="Calibri"/>
              </a:rPr>
              <a:t>Schools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320040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"/>
              </a:rPr>
              <a:t>Programs, accreditations, outcomes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34856" y="24688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17736" y="2606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FD1C5"/>
                </a:solidFill>
                <a:latin typeface="Calibri"/>
              </a:rPr>
              <a:t>NGOs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7736" y="320040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Calibri"/>
              </a:rPr>
              <a:t>Reach, impact, capability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11064240" cy="1645920"/>
          </a:xfrm>
          <a:prstGeom prst="roundRect">
            <a:avLst>
              <a:gd name="adj" fmla="val 4000"/>
            </a:avLst>
          </a:prstGeom>
          <a:solidFill>
            <a:srgbClr val="132944"/>
          </a:solidFill>
          <a:ln w="12700">
            <a:solidFill>
              <a:srgbClr val="FFB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B44D"/>
                </a:solidFill>
                <a:latin typeface="Calibri"/>
              </a:rPr>
              <a:t>THE 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292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F7FA"/>
                </a:solidFill>
                <a:latin typeface="Calibri"/>
              </a:rPr>
              <a:t>Deterministic ranking + an auditable LLM second opinion + an honest “we don’t know” state.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B5C6"/>
                </a:solidFill>
                <a:latin typeface="Calibri"/>
              </a:rPr>
              <a:t>Facility Trust Desk  ·  Track 1  ·  DAIS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B5C6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B44D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5F7FA"/>
                </a:solidFill>
                <a:latin typeface="Calibri"/>
              </a:rPr>
              <a:t>Facility Trust 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1">
                <a:solidFill>
                  <a:srgbClr val="A8B5C6"/>
                </a:solidFill>
                <a:latin typeface="Calibri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8B5C6"/>
                </a:solidFill>
                <a:latin typeface="Consolas"/>
              </a:rPr>
              <a:t>Raw  →  Silver  →  Gold  →  LLM sub-signals  →  Deterministic final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8B5C6"/>
                </a:solidFill>
                <a:latin typeface="Calibri"/>
              </a:rPr>
              <a:t>Databricks App  ·  SQL Warehouse  ·  Llama on Databricks Model Serving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8B5C6"/>
                </a:solidFill>
                <a:latin typeface="Calibri"/>
              </a:rPr>
              <a:t>Facility Trust Desk  ·  Track 1  ·  DAIS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A8B5C6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