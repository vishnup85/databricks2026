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312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B44D"/>
                </a:solidFill>
                <a:latin typeface="Calibri"/>
              </a:rPr>
              <a:t>TRACK 1  ·  DAIS 2026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5F7FA"/>
                </a:solidFill>
                <a:latin typeface="Calibri"/>
              </a:rPr>
              <a:t>Facility Trust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1">
                <a:solidFill>
                  <a:srgbClr val="A8B5C6"/>
                </a:solidFill>
                <a:latin typeface="Calibri"/>
              </a:rPr>
              <a:t>Can this facility actually do what it claims?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STRONG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9377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4C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PARTIAL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49377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WEAK / SUSPICIOUS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9377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6E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NO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A trust signal for every facility-capability pair in the Indian healthcare dataset.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Directories list claims. They don't grade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B44D"/>
                </a:solidFill>
                <a:latin typeface="Calibri"/>
              </a:rPr>
              <a:t>A district planner.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49377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5F7FA"/>
                </a:solidFill>
                <a:latin typeface="Calibri"/>
              </a:rPr>
              <a:t>A high-risk delivery is being referred.</a:t>
            </a:r>
          </a:p>
          <a:p>
            <a:pPr algn="l"/>
            <a:r>
              <a:rPr sz="2000" b="0" i="0">
                <a:solidFill>
                  <a:srgbClr val="F5F7FA"/>
                </a:solidFill>
                <a:latin typeface="Calibri"/>
              </a:rPr>
              <a:t>Minutes to choose a hospital.</a:t>
            </a:r>
          </a:p>
          <a:p>
            <a:pPr algn="l"/>
            <a:r>
              <a:rPr sz="2000" b="0" i="0">
                <a:solidFill>
                  <a:srgbClr val="F5F7FA"/>
                </a:solidFill>
                <a:latin typeface="Calibri"/>
              </a:rPr>
              <a:t>Searches "maternity".</a:t>
            </a:r>
          </a:p>
          <a:p>
            <a:pPr algn="l"/>
            <a:r>
              <a:rPr sz="2000" b="0" i="0">
                <a:solidFill>
                  <a:srgbClr val="F5F7FA"/>
                </a:solidFill>
                <a:latin typeface="Calibri"/>
              </a:rPr>
              <a:t>Gets 200 hospitals, all claiming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The question that matters: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B44D"/>
                </a:solidFill>
                <a:latin typeface="Calibri"/>
              </a:rPr>
              <a:t>“Can they actually do it?”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572000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Calibri"/>
              </a:rPr>
              <a:t>No one tells the planner. Self-reported capability is treated as ground truth across the entire sector.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A trust signal for every facility × capability pair.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A8B5C6"/>
                </a:solidFill>
                <a:latin typeface="Calibri"/>
              </a:rPr>
              <a:t>~10,000 Indian healthcare facilities  ×  6 capabilities  →  ~60,000 graded decisions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ICU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59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NICU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8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Maternity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197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Emergency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6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Oncology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35" y="2971800"/>
            <a:ext cx="1783080" cy="502920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Trauma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2743200" cy="21031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2743200" cy="16459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34340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BCB77"/>
                </a:solidFill>
                <a:latin typeface="Calibri"/>
              </a:rPr>
              <a:t>STRONG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00600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Structured evidence and well-corroborated by independent sources.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4023360"/>
            <a:ext cx="2743200" cy="21031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10712" y="4023360"/>
            <a:ext cx="2743200" cy="164592"/>
          </a:xfrm>
          <a:prstGeom prst="rect">
            <a:avLst/>
          </a:prstGeom>
          <a:solidFill>
            <a:srgbClr val="F4C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592" y="434340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4C43C"/>
                </a:solidFill>
                <a:latin typeface="Calibri"/>
              </a:rPr>
              <a:t>PARTIAL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4800600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One real signal. Not enough to fully confirm the claim.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4023360"/>
            <a:ext cx="2743200" cy="21031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2784" y="4023360"/>
            <a:ext cx="2743200" cy="16459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55664" y="434340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B44D"/>
                </a:solidFill>
                <a:latin typeface="Calibri"/>
              </a:rPr>
              <a:t>WEAK / SUSPICIOUS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800600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Prose-only, screening-only, implausible scale, or contradictory.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6" y="4023360"/>
            <a:ext cx="2743200" cy="21031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34856" y="4023360"/>
            <a:ext cx="2743200" cy="164592"/>
          </a:xfrm>
          <a:prstGeom prst="rect">
            <a:avLst/>
          </a:prstGeom>
          <a:solidFill>
            <a:srgbClr val="6E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17736" y="434340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6E7C91"/>
                </a:solidFill>
                <a:latin typeface="Calibri"/>
              </a:rPr>
              <a:t>NO CLAIM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4800600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Nothing in the facility's own evidence supports this capability.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WHAT THE PLANNER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Rank. Drill into evidence. Override with a note.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2743200" cy="329184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B44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PICK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2377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Capability and state.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377440"/>
            <a:ext cx="2743200" cy="329184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93592" y="246888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B44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7033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206240"/>
            <a:ext cx="2377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A ranked list of facilities with a visible tier.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2377440"/>
            <a:ext cx="2743200" cy="329184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55664" y="246888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B44D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7033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DRILL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4206240"/>
            <a:ext cx="2377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Why we made the call: structured matches, prose hits, sources, snippets.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2377440"/>
            <a:ext cx="2743200" cy="329184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17736" y="2468880"/>
            <a:ext cx="1097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B44D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7033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OVERRIDE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4206240"/>
            <a:ext cx="2377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Local note + reviewer tag, kept in the browser.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FFB44D"/>
                </a:solidFill>
                <a:latin typeface="Calibri"/>
              </a:rPr>
              <a:t>Planners can disagree with us. They cannot be lied to about what we know.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A deterministic pipeline with an auditable LLM second opinion.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6040"/>
            <a:ext cx="2029968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029968" cy="128016"/>
          </a:xfrm>
          <a:prstGeom prst="rect">
            <a:avLst/>
          </a:prstGeom>
          <a:solidFill>
            <a:srgbClr val="6E7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8470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6E7C91"/>
                </a:solidFill>
                <a:latin typeface="Calibri"/>
              </a:rP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847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5F7FA"/>
                </a:solidFill>
                <a:latin typeface="Calibri"/>
              </a:rPr>
              <a:t>10,088 raw
facility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606040"/>
            <a:ext cx="2029968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07208" y="2606040"/>
            <a:ext cx="2029968" cy="128016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98648" y="2880360"/>
            <a:ext cx="18470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4FD1C5"/>
                </a:solidFill>
                <a:latin typeface="Calibri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1847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5F7FA"/>
                </a:solidFill>
                <a:latin typeface="Calibri"/>
              </a:rPr>
              <a:t>Cleaned, deduped,
pincode-repaired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6" y="2606040"/>
            <a:ext cx="2029968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65776" y="2606040"/>
            <a:ext cx="2029968" cy="128016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57216" y="2880360"/>
            <a:ext cx="18470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B44D"/>
                </a:solidFill>
                <a:latin typeface="Calibri"/>
              </a:rPr>
              <a:t>GOLD
(heuristic)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3566160"/>
            <a:ext cx="1847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5F7FA"/>
                </a:solidFill>
                <a:latin typeface="Calibri"/>
              </a:rPr>
              <a:t>Tier from structured
+ claim + prose + corroboration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344" y="2606040"/>
            <a:ext cx="2029968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24344" y="2606040"/>
            <a:ext cx="2029968" cy="128016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15784" y="2880360"/>
            <a:ext cx="18470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B44D"/>
                </a:solidFill>
                <a:latin typeface="Calibri"/>
              </a:rPr>
              <a:t>LLM
SUB-SIGNALS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3566160"/>
            <a:ext cx="1847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5F7FA"/>
                </a:solidFill>
                <a:latin typeface="Calibri"/>
              </a:rPr>
              <a:t>Typed, fingerprinted,
never the final tier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2912" y="2606040"/>
            <a:ext cx="2029968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82912" y="2606040"/>
            <a:ext cx="2029968" cy="12801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74352" y="2880360"/>
            <a:ext cx="184708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6BCB77"/>
                </a:solidFill>
                <a:latin typeface="Calibri"/>
              </a:rPr>
              <a:t>GOLD
(final mart)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4352" y="3566160"/>
            <a:ext cx="18470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5F7FA"/>
                </a:solidFill>
                <a:latin typeface="Calibri"/>
              </a:rPr>
              <a:t>Tier deterministically
recomputed in SQL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532888" y="3337560"/>
            <a:ext cx="320040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ight Arrow 26"/>
          <p:cNvSpPr/>
          <p:nvPr/>
        </p:nvSpPr>
        <p:spPr>
          <a:xfrm>
            <a:off x="4825538" y="3353354"/>
            <a:ext cx="320040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ight Arrow 27"/>
          <p:cNvSpPr/>
          <p:nvPr/>
        </p:nvSpPr>
        <p:spPr>
          <a:xfrm>
            <a:off x="7065111" y="3353354"/>
            <a:ext cx="320040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9323679" y="3328416"/>
            <a:ext cx="320040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48640" y="5074920"/>
            <a:ext cx="3566160" cy="10972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1663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6BCB77"/>
                </a:solidFill>
                <a:latin typeface="Calibri"/>
              </a:rPr>
              <a:t>Deterministic tier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Final tier is recomputed by SQL every run. Repeatable, auditable.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5074920"/>
            <a:ext cx="3566160" cy="10972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80560" y="51663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4FD1C5"/>
                </a:solidFill>
                <a:latin typeface="Calibri"/>
              </a:rPr>
              <a:t>LLM as second opinion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53212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Writes typed sub-signals only. Tier rules read them, then decide.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5074920"/>
            <a:ext cx="3566160" cy="10972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0" y="51663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B44D"/>
                </a:solidFill>
                <a:latin typeface="Calibri"/>
              </a:rPr>
              <a:t>Fingerprinted reviews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53212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Each LLM review is keyed to a hash of the evidence it saw.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Cleaned, joined, scored, 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10,088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raw facility 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4688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9,932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unique facilities after dedupe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26060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~60k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5204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facility × capability decisions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976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capabilities graded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44348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349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trust tiers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297680"/>
            <a:ext cx="356616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4434840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B44D"/>
                </a:solidFill>
                <a:latin typeface="Calibri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349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alibri"/>
              </a:rPr>
              <a:t>SQL steps, raw → silver → 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B5C6"/>
                </a:solidFill>
                <a:latin typeface="Calibri"/>
              </a:rPr>
              <a:t>Deployed as a Databricks App with the Analytics plugin against a live SQL Warehouse.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4FD1C5"/>
                </a:solidFill>
                <a:latin typeface="Calibri"/>
              </a:rPr>
              <a:t>WHERE THIS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Anywhere people act on claims someone made about themselves.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Government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Eligibility &amp; service-level claims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3592" y="260604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Suppliers &amp; vendors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2004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Certifications, capacity, compliance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60604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Schools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32004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Programs, accreditations, outcomes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4856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7736" y="260604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4FD1C5"/>
                </a:solidFill>
                <a:latin typeface="Calibri"/>
              </a:rPr>
              <a:t>NGOs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7736" y="320040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Reach, impact, capability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72000"/>
            <a:ext cx="11064240" cy="164592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B44D"/>
                </a:solidFill>
                <a:latin typeface="Calibri"/>
              </a:rPr>
              <a:t>THE 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920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Deterministic ranking + an auditable LLM second opinion + an honest “we don’t know” state.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B44D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F5F7FA"/>
                </a:solidFill>
                <a:latin typeface="Calibri"/>
              </a:rPr>
              <a:t>Facility Trust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1">
                <a:solidFill>
                  <a:srgbClr val="A8B5C6"/>
                </a:solidFill>
                <a:latin typeface="Calibri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A8B5C6"/>
                </a:solidFill>
                <a:latin typeface="Consolas"/>
              </a:rPr>
              <a:t>Raw  →  Silver  →  Gold  →  LLM sub-signals  →  Deterministic final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8B5C6"/>
                </a:solidFill>
                <a:latin typeface="Calibri"/>
              </a:rPr>
              <a:t>Databricks App  ·  SQL Warehouse  ·  Llama on Databricks Model Serving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4FD1C5"/>
                </a:solidFill>
                <a:latin typeface="Calibri"/>
              </a:rPr>
              <a:t>APPENDIX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What runs where.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642616" cy="36576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642616" cy="128016"/>
          </a:xfrm>
          <a:prstGeom prst="rect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3682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A8B5C6"/>
                </a:solidFill>
                <a:latin typeface="Calibr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3682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8B5C6"/>
                </a:solidFill>
                <a:latin typeface="Calibri"/>
              </a:rPr>
              <a:t>Unity Catalog (read-only)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94560"/>
            <a:ext cx="2642616" cy="36576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55848" y="2194560"/>
            <a:ext cx="2642616" cy="128016"/>
          </a:xfrm>
          <a:prstGeom prst="rect">
            <a:avLst/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93008" y="2423160"/>
            <a:ext cx="23682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B44D"/>
                </a:solidFill>
                <a:latin typeface="Calibri"/>
              </a:rPr>
              <a:t>HEURISTIC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834640"/>
            <a:ext cx="23682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8B5C6"/>
                </a:solidFill>
                <a:latin typeface="Calibri"/>
              </a:rPr>
              <a:t>Databricks SQL Warehouse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194560"/>
            <a:ext cx="2642616" cy="36576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63056" y="2194560"/>
            <a:ext cx="2642616" cy="128016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216" y="2423160"/>
            <a:ext cx="23682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4FD1C5"/>
                </a:solidFill>
                <a:latin typeface="Calibri"/>
              </a:rPr>
              <a:t>LLM SIDECAR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834640"/>
            <a:ext cx="23682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8B5C6"/>
                </a:solidFill>
                <a:latin typeface="Calibri"/>
              </a:rPr>
              <a:t>Python runner + Model Serving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4" y="2194560"/>
            <a:ext cx="2642616" cy="365760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70264" y="2194560"/>
            <a:ext cx="2642616" cy="12801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07424" y="2423160"/>
            <a:ext cx="23682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6BCB77"/>
                </a:solidFill>
                <a:latin typeface="Calibri"/>
              </a:rPr>
              <a:t>SERVING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834640"/>
            <a:ext cx="23682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8B5C6"/>
                </a:solidFill>
                <a:latin typeface="Calibri"/>
              </a:rPr>
              <a:t>Databricks App + Browser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291840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A8B5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310128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8B5C6"/>
                </a:solidFill>
                <a:latin typeface="Consolas"/>
              </a:rPr>
              <a:t>facilities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493008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10,088 raw rows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67328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A8B5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8B5C6"/>
                </a:solidFill>
                <a:latin typeface="Consolas"/>
              </a:rPr>
              <a:t>india_post_pincode_directory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968496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pincode → district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42816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A8B5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426110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8B5C6"/>
                </a:solidFill>
                <a:latin typeface="Consolas"/>
              </a:rPr>
              <a:t>nfhs_5_district_health_indicators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443984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district health stats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65576" y="3291840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57016" y="3310128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44D"/>
                </a:solidFill>
                <a:latin typeface="Consolas"/>
              </a:rPr>
              <a:t>01-03  silver.*_clean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7016" y="3493008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clean + dedupe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65576" y="3767328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57016" y="3785616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44D"/>
                </a:solidFill>
                <a:latin typeface="Consolas"/>
              </a:rPr>
              <a:t>04-05  gold.geo / need_index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3968496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joins + planner context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65576" y="4242816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57016" y="426110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44D"/>
                </a:solidFill>
                <a:latin typeface="Consolas"/>
              </a:rPr>
              <a:t>06  gold.*_assessment_heuristic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7016" y="4443984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deterministic baseline tier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72784" y="3291840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64224" y="3310128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FD1C5"/>
                </a:solidFill>
                <a:latin typeface="Consolas"/>
              </a:rPr>
              <a:t>07  silver.llm_inputs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493008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prompt-ready + fingerprint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72784" y="3767328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64224" y="3785616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FD1C5"/>
                </a:solidFill>
                <a:latin typeface="Consolas"/>
              </a:rPr>
              <a:t>run_llm_capability_review.py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4224" y="3968496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Databricks Serving or OpenAI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72784" y="4242816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64224" y="426110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FD1C5"/>
                </a:solidFill>
                <a:latin typeface="Consolas"/>
              </a:rPr>
              <a:t>08  silver.llm_outputs_raw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4224" y="4443984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append-only model output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72784" y="4718304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64224" y="4736592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FD1C5"/>
                </a:solidFill>
                <a:latin typeface="Consolas"/>
              </a:rPr>
              <a:t>09  gold.llm_signals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64224" y="4919472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typed sub-signals + status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79992" y="3291840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71432" y="3310128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CB77"/>
                </a:solidFill>
                <a:latin typeface="Consolas"/>
              </a:rPr>
              <a:t>10  gold.*_assessment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71432" y="3493008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final tier, SQL-recomputed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79992" y="3767328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71432" y="3785616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CB77"/>
                </a:solidFill>
                <a:latin typeface="Consolas"/>
              </a:rPr>
              <a:t>Databricks App (AppKit)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71432" y="3968496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states / capability_ranked / facility_detail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79992" y="4242816"/>
            <a:ext cx="2423160" cy="384048"/>
          </a:xfrm>
          <a:prstGeom prst="roundRect">
            <a:avLst>
              <a:gd name="adj" fmla="val 25000"/>
            </a:avLst>
          </a:prstGeom>
          <a:solidFill>
            <a:srgbClr val="0B1B2E"/>
          </a:solidFill>
          <a:ln w="9525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171432" y="426110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CB77"/>
                </a:solidFill>
                <a:latin typeface="Consolas"/>
              </a:rPr>
              <a:t>Browser (React + localStorage)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71432" y="4443984"/>
            <a:ext cx="2240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B5C6"/>
                </a:solidFill>
                <a:latin typeface="Calibri"/>
              </a:rPr>
              <a:t>ranking, drill-down, overrides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3145536" y="3886200"/>
            <a:ext cx="256032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ight Arrow 61"/>
          <p:cNvSpPr/>
          <p:nvPr/>
        </p:nvSpPr>
        <p:spPr>
          <a:xfrm>
            <a:off x="5952744" y="3886200"/>
            <a:ext cx="256032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ight Arrow 62"/>
          <p:cNvSpPr/>
          <p:nvPr/>
        </p:nvSpPr>
        <p:spPr>
          <a:xfrm>
            <a:off x="8759952" y="3886200"/>
            <a:ext cx="256032" cy="274320"/>
          </a:xfrm>
          <a:prstGeom prst="rightArrow">
            <a:avLst/>
          </a:prstGeom>
          <a:solidFill>
            <a:srgbClr val="A8B5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548640" y="5989320"/>
            <a:ext cx="11064240" cy="3657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F5F7FA"/>
                </a:solidFill>
                <a:latin typeface="Calibri"/>
              </a:rPr>
              <a:t>The model never writes the final tier. Script 10 rebuilds it deterministically from script 06's baseline + current LLM sub-signals.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4FD1C5"/>
                </a:solidFill>
                <a:latin typeface="Calibri"/>
              </a:rPr>
              <a:t>APPENDIX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F5F7FA"/>
                </a:solidFill>
                <a:latin typeface="Calibri"/>
              </a:rPr>
              <a:t>Greenfield General: oncology row, before and after LLM.</a:t>
            </a:r>
            <a:endParaRPr lang="en-US" sz="4000" b="1" i="0" dirty="0">
              <a:solidFill>
                <a:srgbClr val="F5F7FA"/>
              </a:solidFill>
              <a:latin typeface="Calibri"/>
            </a:endParaRPr>
          </a:p>
          <a:p>
            <a:pPr algn="l"/>
            <a:endParaRPr sz="4000" b="1" i="0" dirty="0">
              <a:solidFill>
                <a:srgbClr val="F5F7FA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3727" y="2221992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 dirty="0">
                <a:solidFill>
                  <a:srgbClr val="A8B5C6"/>
                </a:solidFill>
                <a:latin typeface="Calibri"/>
              </a:rPr>
              <a:t>Specialties list "Oncology". 6 sources, official site, named staff, 80 beds. Description says "Our oncology screening clinic runs every Monday."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5394960" cy="36118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86207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B44D"/>
                </a:solidFill>
                <a:latin typeface="Calibri"/>
              </a:rPr>
              <a:t>HEURISTIC ONLY (script 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49377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 err="1">
                <a:solidFill>
                  <a:srgbClr val="F5F7FA"/>
                </a:solidFill>
                <a:latin typeface="Consolas"/>
              </a:rPr>
              <a:t>structured_hit</a:t>
            </a:r>
            <a:r>
              <a:rPr sz="1200" b="0" i="0" dirty="0">
                <a:solidFill>
                  <a:srgbClr val="F5F7FA"/>
                </a:solidFill>
                <a:latin typeface="Consolas"/>
              </a:rPr>
              <a:t> = true   (Oncology in specialties)</a:t>
            </a:r>
          </a:p>
          <a:p>
            <a:pPr algn="l"/>
            <a:r>
              <a:rPr sz="1200" b="0" i="0" dirty="0" err="1">
                <a:solidFill>
                  <a:srgbClr val="F5F7FA"/>
                </a:solidFill>
                <a:latin typeface="Consolas"/>
              </a:rPr>
              <a:t>claim_hit</a:t>
            </a:r>
            <a:r>
              <a:rPr sz="1200" b="0" i="0" dirty="0">
                <a:solidFill>
                  <a:srgbClr val="F5F7FA"/>
                </a:solidFill>
                <a:latin typeface="Consolas"/>
              </a:rPr>
              <a:t>      = true</a:t>
            </a:r>
          </a:p>
          <a:p>
            <a:pPr algn="l"/>
            <a:r>
              <a:rPr sz="1200" b="0" i="0" dirty="0" err="1">
                <a:solidFill>
                  <a:srgbClr val="F5F7FA"/>
                </a:solidFill>
                <a:latin typeface="Consolas"/>
              </a:rPr>
              <a:t>prose_hit</a:t>
            </a:r>
            <a:r>
              <a:rPr sz="1200" b="0" i="0" dirty="0">
                <a:solidFill>
                  <a:srgbClr val="F5F7FA"/>
                </a:solidFill>
                <a:latin typeface="Consolas"/>
              </a:rPr>
              <a:t>      = true</a:t>
            </a:r>
          </a:p>
          <a:p>
            <a:pPr algn="l"/>
            <a:r>
              <a:rPr sz="1200" b="0" i="0" dirty="0" err="1">
                <a:solidFill>
                  <a:srgbClr val="F5F7FA"/>
                </a:solidFill>
                <a:latin typeface="Consolas"/>
              </a:rPr>
              <a:t>screening_only</a:t>
            </a:r>
            <a:r>
              <a:rPr sz="1200" b="0" i="0" dirty="0">
                <a:solidFill>
                  <a:srgbClr val="F5F7FA"/>
                </a:solidFill>
                <a:latin typeface="Consolas"/>
              </a:rPr>
              <a:t> = false  (regex saw "oncology")</a:t>
            </a:r>
          </a:p>
          <a:p>
            <a:pPr algn="l"/>
            <a:r>
              <a:rPr sz="1200" b="0" i="0" dirty="0" err="1">
                <a:solidFill>
                  <a:srgbClr val="F5F7FA"/>
                </a:solidFill>
                <a:latin typeface="Consolas"/>
              </a:rPr>
              <a:t>well_corroborated</a:t>
            </a:r>
            <a:r>
              <a:rPr sz="1200" b="0" i="0" dirty="0">
                <a:solidFill>
                  <a:srgbClr val="F5F7FA"/>
                </a:solidFill>
                <a:latin typeface="Consolas"/>
              </a:rPr>
              <a:t> =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A8B5C6"/>
                </a:solidFill>
                <a:latin typeface="Calibri"/>
              </a:rPr>
              <a:t>Tier rule that fires: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onsolas"/>
              </a:rPr>
              <a:t>structured + well_corroborated  →  STRONG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62356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STRONG  ·  score 96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97480"/>
            <a:ext cx="5394960" cy="36118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86207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BCB77"/>
                </a:solidFill>
                <a:latin typeface="Calibri"/>
              </a:rPr>
              <a:t>HEURISTIC + LLM (script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91840"/>
            <a:ext cx="49377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LLM read the prose. Returned typed signals: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screening_only_llm   = true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capability_scope_llm = screening_or_diagnostics_only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llm_review_status    = current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structured_hit, implausible, well_corroborated unchanged.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006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A8B5C6"/>
                </a:solidFill>
                <a:latin typeface="Calibri"/>
              </a:rPr>
              <a:t>Tier rule that fires (NEW, top of ladder):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7492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onsolas"/>
              </a:rPr>
              <a:t>capability_scope = screening_only  →  WEAK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562356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FFB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r>
              <a:rPr sz="1400" b="1">
                <a:solidFill>
                  <a:srgbClr val="0B1B2E"/>
                </a:solidFill>
                <a:latin typeface="Calibri"/>
              </a:rPr>
              <a:t>WEAK / SUSPICIOUS  ·  score 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9095" y="-13716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4FD1C5"/>
                </a:solidFill>
                <a:latin typeface="Calibri"/>
              </a:rPr>
              <a:t>APPENDIX · THE TIER LADDERS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F5F7FA"/>
                </a:solidFill>
                <a:latin typeface="Calibri"/>
              </a:rPr>
              <a:t>Script 10 is script 06's ladder with two new rules on top.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31136"/>
            <a:ext cx="5394960" cy="38404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B44D"/>
                </a:solidFill>
                <a:latin typeface="Calibri"/>
              </a:rPr>
              <a:t>SCRIPT 06  ·  heuristic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0837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0837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no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00837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A8B5C6"/>
                </a:solidFill>
                <a:latin typeface="Consolas"/>
              </a:rPr>
              <a:t>→ no_claim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290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oncology + screening_only + NOT structured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962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496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implausible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84962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70248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7024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structured + well_corroborated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7024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BCB77"/>
                </a:solidFill>
                <a:latin typeface="Consolas"/>
              </a:rPr>
              <a:t>→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6908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structured OR claim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69087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4C43C"/>
                </a:solidFill>
                <a:latin typeface="Consolas"/>
              </a:rPr>
              <a:t>→ 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1149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1149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F5F7FA"/>
                </a:solidFill>
                <a:latin typeface="Consolas"/>
              </a:rPr>
              <a:t>prose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1149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5321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ELSE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55321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A8B5C6"/>
                </a:solidFill>
                <a:latin typeface="Consolas"/>
              </a:rPr>
              <a:t>→ no_claim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9822" y="2201209"/>
            <a:ext cx="5463538" cy="4465597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4688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6BCB77"/>
                </a:solidFill>
                <a:latin typeface="Calibri"/>
              </a:rPr>
              <a:t>SCRIPT 10  ·  heuristic + LLM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0837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00837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no 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300837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A8B5C6"/>
                </a:solidFill>
                <a:latin typeface="Consolas"/>
              </a:rPr>
              <a:t>→ no_claim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82512" y="3374136"/>
            <a:ext cx="5065776" cy="402336"/>
          </a:xfrm>
          <a:prstGeom prst="roundRect">
            <a:avLst>
              <a:gd name="adj" fmla="val 20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3429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4290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capability_scope = screening_or_diagnostics_only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8697" y="35295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 dirty="0">
                <a:solidFill>
                  <a:srgbClr val="4FD1C5"/>
                </a:solidFill>
                <a:latin typeface="Consolas"/>
              </a:rPr>
              <a:t>→ weak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44784" y="339242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dirty="0">
                <a:solidFill>
                  <a:srgbClr val="4FD1C5"/>
                </a:solidFill>
                <a:latin typeface="Calibri"/>
              </a:rPr>
              <a:t>NEW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82512" y="3794760"/>
            <a:ext cx="5065776" cy="402336"/>
          </a:xfrm>
          <a:prstGeom prst="roundRect">
            <a:avLst>
              <a:gd name="adj" fmla="val 20000"/>
            </a:avLst>
          </a:prstGeom>
          <a:solidFill>
            <a:srgbClr val="0B1B2E"/>
          </a:solidFill>
          <a:ln w="9525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384962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38496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capability_scope = adjacent_service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2048" y="399592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4FD1C5"/>
                </a:solidFill>
                <a:latin typeface="Consolas"/>
              </a:rPr>
              <a:t>→ weak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7080" y="384962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FD1C5"/>
                </a:solidFill>
                <a:latin typeface="Calibri"/>
              </a:rPr>
              <a:t>NEW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270248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427024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F5F7FA"/>
                </a:solidFill>
                <a:latin typeface="Consolas"/>
              </a:rPr>
              <a:t>oncology + </a:t>
            </a:r>
            <a:r>
              <a:rPr sz="1100" b="0" i="0" dirty="0" err="1">
                <a:solidFill>
                  <a:srgbClr val="F5F7FA"/>
                </a:solidFill>
                <a:latin typeface="Consolas"/>
              </a:rPr>
              <a:t>screening_only</a:t>
            </a:r>
            <a:r>
              <a:rPr sz="1100" b="0" i="0" dirty="0">
                <a:solidFill>
                  <a:srgbClr val="F5F7FA"/>
                </a:solidFill>
                <a:latin typeface="Consolas"/>
              </a:rPr>
              <a:t> + NOT structured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427024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690872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46908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implausible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469087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11149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511149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F5F7FA"/>
                </a:solidFill>
                <a:latin typeface="Consolas"/>
              </a:rPr>
              <a:t>structured + </a:t>
            </a:r>
            <a:r>
              <a:rPr sz="1100" b="0" i="0" dirty="0" err="1">
                <a:solidFill>
                  <a:srgbClr val="F5F7FA"/>
                </a:solidFill>
                <a:latin typeface="Consolas"/>
              </a:rPr>
              <a:t>well_corroborated</a:t>
            </a:r>
            <a:endParaRPr sz="1100" b="0" i="0" dirty="0">
              <a:solidFill>
                <a:srgbClr val="F5F7FA"/>
              </a:solidFill>
              <a:latin typeface="Consola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104120" y="511149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BCB77"/>
                </a:solidFill>
                <a:latin typeface="Consolas"/>
              </a:rPr>
              <a:t>→ strong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5321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5321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structured OR claim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55321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4C43C"/>
                </a:solidFill>
                <a:latin typeface="Consolas"/>
              </a:rPr>
              <a:t>→ partial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5952744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595274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B44D"/>
                </a:solidFill>
                <a:latin typeface="Consolas"/>
              </a:rPr>
              <a:t>→ weak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6373368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8B5C6"/>
                </a:solidFill>
                <a:latin typeface="Consolas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0" y="637336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ELSE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637336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A8B5C6"/>
                </a:solidFill>
                <a:latin typeface="Consolas"/>
              </a:rPr>
              <a:t>→ no_claim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2653" y="6126254"/>
            <a:ext cx="5532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 dirty="0">
                <a:solidFill>
                  <a:srgbClr val="A8B5C6"/>
                </a:solidFill>
                <a:latin typeface="Calibri"/>
              </a:rPr>
              <a:t>First matching rule wins. The two NEW rules only fire when the LLM review is current; otherwise </a:t>
            </a:r>
            <a:r>
              <a:rPr sz="1100" b="0" i="1" dirty="0" err="1">
                <a:solidFill>
                  <a:srgbClr val="A8B5C6"/>
                </a:solidFill>
                <a:latin typeface="Calibri"/>
              </a:rPr>
              <a:t>capability_scope</a:t>
            </a:r>
            <a:r>
              <a:rPr sz="1100" b="0" i="1" dirty="0">
                <a:solidFill>
                  <a:srgbClr val="A8B5C6"/>
                </a:solidFill>
                <a:latin typeface="Calibri"/>
              </a:rPr>
              <a:t> is NULL and rules 2 and 3 cannot match, so script 10 behaves like script 06.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80" y="6498889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12 / 13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EB2BB0-790A-4E35-3AD3-ABA7678E6ABE}"/>
              </a:ext>
            </a:extLst>
          </p:cNvPr>
          <p:cNvSpPr txBox="1"/>
          <p:nvPr/>
        </p:nvSpPr>
        <p:spPr>
          <a:xfrm>
            <a:off x="6766560" y="595468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F5F7FA"/>
                </a:solidFill>
                <a:latin typeface="Consolas"/>
              </a:rPr>
              <a:t>prose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502920" cy="73152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4FD1C5"/>
                </a:solidFill>
                <a:latin typeface="Calibri"/>
              </a:rPr>
              <a:t>APPENDIX · WHY THE LLM CAN DO WHAT THE REGEX CAN'T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Same idea. Two safety guards removed,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66160" cy="31089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B44D"/>
                </a:solidFill>
                <a:latin typeface="Calibri"/>
              </a:rPr>
              <a:t>GUARD 1  (06)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screening_only is a regex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3200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Flags when text has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cancer / tumor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AND NOT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oncolog%, chemotherap%,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cancer treatment, ...</a:t>
            </a:r>
          </a:p>
          <a:p>
            <a:pPr algn="l"/>
            <a:endParaRPr sz="1100" b="0" i="0">
              <a:solidFill>
                <a:srgbClr val="F5F7FA"/>
              </a:solidFill>
              <a:latin typeface="Consolas"/>
            </a:endParaRP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Greenfield text contains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"oncology", so the flag is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false. Regex cannot tell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"oncology screening clinic"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from "oncology department".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86000"/>
            <a:ext cx="3566160" cy="31089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FFB4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24231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B44D"/>
                </a:solidFill>
                <a:latin typeface="Calibri"/>
              </a:rPr>
              <a:t>GUARD 2  (06)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Refuses to overrule structured fields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337560"/>
            <a:ext cx="3200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Rule requires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NOT structured_hit</a:t>
            </a:r>
          </a:p>
          <a:p>
            <a:pPr algn="l"/>
            <a:endParaRPr sz="1100" b="0" i="0">
              <a:solidFill>
                <a:srgbClr val="F5F7FA"/>
              </a:solidFill>
              <a:latin typeface="Consolas"/>
            </a:endParaRP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If "Oncology" is in the formal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specialty list, the heuristic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trusts that fact over its own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fuzzy regex.</a:t>
            </a:r>
          </a:p>
          <a:p>
            <a:pPr algn="l"/>
            <a:endParaRPr sz="1100" b="0" i="0">
              <a:solidFill>
                <a:srgbClr val="F5F7FA"/>
              </a:solidFill>
              <a:latin typeface="Consolas"/>
            </a:endParaRP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Greenfield has structured_hit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= true, so the rule cannot fire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even if the regex had triggered.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566160" cy="310896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6BCB77"/>
                </a:solidFill>
                <a:latin typeface="Calibri"/>
              </a:rPr>
              <a:t>LLM RULE  (10)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Both guards removed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337560"/>
            <a:ext cx="3200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capability_scope =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  screening_or_diagnostics_only</a:t>
            </a:r>
          </a:p>
          <a:p>
            <a:pPr algn="l"/>
            <a:endParaRPr sz="1100" b="0" i="0">
              <a:solidFill>
                <a:srgbClr val="F5F7FA"/>
              </a:solidFill>
              <a:latin typeface="Consolas"/>
            </a:endParaRP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Typed verdict from the model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after reading the actual prose.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Explicitly allowed to overrule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the structured specialty list.</a:t>
            </a:r>
          </a:p>
          <a:p>
            <a:pPr algn="l"/>
            <a:endParaRPr sz="1100" b="0" i="0">
              <a:solidFill>
                <a:srgbClr val="F5F7FA"/>
              </a:solidFill>
              <a:latin typeface="Consolas"/>
            </a:endParaRP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Safer because the LLM read the</a:t>
            </a:r>
          </a:p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page, not a regex.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3212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132944"/>
          </a:solidFill>
          <a:ln w="12700">
            <a:solidFill>
              <a:srgbClr val="4F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6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4FD1C5"/>
                </a:solidFill>
                <a:latin typeface="Calibri"/>
              </a:rPr>
              <a:t>SAFETY 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Every LLM review is tied to a hash of the evidence it saw. If the facility text changes the review goes "stale"; script 10 then falls back to script 06's heuristic flags automatically. If no LLM review exists at all, script 10 produces the same answer as script 06.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B5C6"/>
                </a:solidFill>
                <a:latin typeface="Calibri"/>
              </a:rPr>
              <a:t>Facility Trust Desk  ·  Track 1  ·  DAIS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B5C6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1470</Words>
  <Application>Microsoft Office PowerPoint</Application>
  <PresentationFormat>Widescreen</PresentationFormat>
  <Paragraphs>279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Vishnu Pratap</cp:lastModifiedBy>
  <cp:revision>2</cp:revision>
  <dcterms:created xsi:type="dcterms:W3CDTF">2013-01-27T09:14:16Z</dcterms:created>
  <dcterms:modified xsi:type="dcterms:W3CDTF">2026-06-16T20:29:37Z</dcterms:modified>
  <cp:category/>
</cp:coreProperties>
</file>